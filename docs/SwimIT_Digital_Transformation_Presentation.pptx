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hero-swimmer.jpg"/>
          <p:cNvPicPr>
            <a:picLocks noChangeAspect="1"/>
          </p:cNvPicPr>
          <p:nvPr/>
        </p:nvPicPr>
        <p:blipFill>
          <a:blip r:embed="rId2"/>
          <a:srcRect l="22756" r="22756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wimi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3429000" cy="9242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828800"/>
            <a:ext cx="58064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72D5C"/>
                </a:solidFill>
                <a:latin typeface="Aptos"/>
              </a:rPr>
              <a:t>From paper registers
to one smart pool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429000"/>
            <a:ext cx="5394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B6F84"/>
                </a:solidFill>
                <a:latin typeface="Aptos"/>
              </a:rPr>
              <a:t>Digital registration, pass, invoice, attendance and accounts — built for swimming pools.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4453128"/>
            <a:ext cx="3154680" cy="53035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72000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One login · One record · Better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598932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F84"/>
                </a:solidFill>
                <a:latin typeface="Aptos"/>
              </a:rPr>
              <a:t>Presentation for swimming pool owners and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The current paper-based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The same information is written repeatedly, but visibility remains 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81912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Registration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Details stay in files; searching takes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173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1581912"/>
            <a:ext cx="438912" cy="438912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5727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Physical 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214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Manual gate entry and attendance marking.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4173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5" y="1581912"/>
            <a:ext cx="438912" cy="438912"/>
          </a:xfrm>
          <a:prstGeom prst="roundRect">
            <a:avLst/>
          </a:prstGeom>
          <a:solidFill>
            <a:srgbClr val="D14343"/>
          </a:solidFill>
          <a:ln>
            <a:solidFill>
              <a:srgbClr val="D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15819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15727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Bill 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1214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Duplicate writing, carbon copies and month-end totals.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747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39312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393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6301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Printed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788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Can be lost, forgotten, copied or used after expiry.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34747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44568" y="3639312"/>
            <a:ext cx="438912" cy="438912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6393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36301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Expense register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1788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Profit is known only after manual calculation.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3474720"/>
            <a:ext cx="3493008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5" y="3639312"/>
            <a:ext cx="438912" cy="438912"/>
          </a:xfrm>
          <a:prstGeom prst="roundRect">
            <a:avLst/>
          </a:prstGeom>
          <a:solidFill>
            <a:srgbClr val="D14343"/>
          </a:solidFill>
          <a:ln>
            <a:solidFill>
              <a:srgbClr val="D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36393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5" y="3630168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Scattered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4178808"/>
            <a:ext cx="316382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Owner depends on staff and multiple notebooks.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650992"/>
            <a:ext cx="11045952" cy="566928"/>
          </a:xfrm>
          <a:prstGeom prst="round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797296"/>
            <a:ext cx="10561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72D5C"/>
                </a:solidFill>
                <a:latin typeface="Aptos"/>
              </a:rPr>
              <a:t>The result: more writing, slower service, payment disputes and no real-time view of the pool.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Paper process → SwimIT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A direct replacement for the registers pools already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4251960" cy="566928"/>
          </a:xfrm>
          <a:prstGeom prst="roundRect">
            <a:avLst/>
          </a:prstGeom>
          <a:solidFill>
            <a:srgbClr val="F8FBFE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39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3146"/>
                </a:solidFill>
                <a:latin typeface="Aptos"/>
              </a:rPr>
              <a:t>Paper registration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14447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325880"/>
            <a:ext cx="5852160" cy="566928"/>
          </a:xfrm>
          <a:prstGeom prst="roundRect">
            <a:avLst/>
          </a:prstGeom>
          <a:solidFill>
            <a:srgbClr val="EBF8F1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1463039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Digital registration form with photo, contact and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75688"/>
            <a:ext cx="4251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12848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E3146"/>
                </a:solidFill>
                <a:latin typeface="Aptos"/>
              </a:rPr>
              <a:t>Swimmer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219456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075688"/>
            <a:ext cx="5852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8" y="2212848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Searchable Active / Inactive swimmer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25496"/>
            <a:ext cx="4251960" cy="566928"/>
          </a:xfrm>
          <a:prstGeom prst="roundRect">
            <a:avLst/>
          </a:prstGeom>
          <a:solidFill>
            <a:srgbClr val="F8FBFE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962656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E3146"/>
                </a:solidFill>
                <a:latin typeface="Aptos"/>
              </a:rPr>
              <a:t>Bill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944368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25496"/>
            <a:ext cx="5852160" cy="566928"/>
          </a:xfrm>
          <a:prstGeom prst="roundRect">
            <a:avLst/>
          </a:prstGeom>
          <a:solidFill>
            <a:srgbClr val="EBF8F1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8" y="2962656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Payment record and tax-inclusive invoice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75304"/>
            <a:ext cx="4251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712464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E3146"/>
                </a:solidFill>
                <a:latin typeface="Aptos"/>
              </a:rPr>
              <a:t>Printed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69417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575304"/>
            <a:ext cx="5852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7608" y="3712464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Digital QR pass sent on WhatsApp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325112"/>
            <a:ext cx="4251960" cy="566928"/>
          </a:xfrm>
          <a:prstGeom prst="roundRect">
            <a:avLst/>
          </a:prstGeom>
          <a:solidFill>
            <a:srgbClr val="F8FBFE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462272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E3146"/>
                </a:solidFill>
                <a:latin typeface="Aptos"/>
              </a:rPr>
              <a:t>Gate attendance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443983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325112"/>
            <a:ext cx="5852160" cy="566928"/>
          </a:xfrm>
          <a:prstGeom prst="roundRect">
            <a:avLst/>
          </a:prstGeom>
          <a:solidFill>
            <a:srgbClr val="EBF8F1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8" y="4462272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Pass scanner and automatic attendance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074920"/>
            <a:ext cx="4251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212080"/>
            <a:ext cx="37490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E3146"/>
                </a:solidFill>
                <a:latin typeface="Aptos"/>
              </a:rPr>
              <a:t>Expense notebook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519379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074920"/>
            <a:ext cx="5852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8" y="5212080"/>
            <a:ext cx="5376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72D5C"/>
                </a:solidFill>
                <a:latin typeface="Aptos"/>
              </a:rPr>
              <a:t>Pool Expenses and Balance Sheet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One connected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Information is entered once and reused across every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swimi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88720"/>
            <a:ext cx="11109960" cy="62493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989320"/>
            <a:ext cx="10195560" cy="384048"/>
          </a:xfrm>
          <a:prstGeom prst="round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6080760"/>
            <a:ext cx="9921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072D5C"/>
                </a:solidFill>
                <a:latin typeface="Aptos"/>
              </a:rPr>
              <a:t>Register → Take payment → Send pass &amp; invoice → Scan at gate → Review attendance and accounts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What the pool owner gains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Control the operation without waiting for registers to be totalled.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517904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1790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Daily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Active swimmers, attendance, expiring passes and payment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53312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73951" y="1517904"/>
            <a:ext cx="438912" cy="43891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51790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Less revenue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057400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Expired or unpaid passes are visible before entry.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89504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3054096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540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44952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Financial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93592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Pass income, expenses and coach payouts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889504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1" y="3054096"/>
            <a:ext cx="438912" cy="43891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0540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044952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1" y="3593592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Separate staff logins, page access and activity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25696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59" y="4590288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59028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581144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Professional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129783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Pool branding on digital pass and invoice.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425696"/>
            <a:ext cx="5239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3951" y="4590288"/>
            <a:ext cx="438912" cy="43891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1" y="459028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581144"/>
            <a:ext cx="4379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Scalable operation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1" y="5129783"/>
            <a:ext cx="4910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Growth adds records — not more books and manual totals.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Faster work for desk, gate and coaches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Every role gets the information needed for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456432" cy="640080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2999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FRONT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2926080" cy="2514600"/>
          </a:xfrm>
          <a:prstGeom prst="rect">
            <a:avLst/>
          </a:prstGeom>
          <a:noFill/>
        </p:spPr>
        <p:txBody>
          <a:bodyPr wrap="square" lIns="109728" rIns="45720" tIns="36576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Register once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Cash or UPI payment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Issue / resend pass and invoice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Search by name or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56432" cy="640080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99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GATE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13432"/>
            <a:ext cx="2926080" cy="2514600"/>
          </a:xfrm>
          <a:prstGeom prst="rect">
            <a:avLst/>
          </a:prstGeom>
          <a:noFill/>
        </p:spPr>
        <p:txBody>
          <a:bodyPr wrap="square" lIns="109728" rIns="45720" tIns="36576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Scan QR / ID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Confirm pass validity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Optional photo check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Attendance updates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1" y="1371600"/>
            <a:ext cx="345643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1" y="1371600"/>
            <a:ext cx="3456432" cy="640080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554480"/>
            <a:ext cx="2999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COACH /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313432"/>
            <a:ext cx="2926080" cy="2514600"/>
          </a:xfrm>
          <a:prstGeom prst="rect">
            <a:avLst/>
          </a:prstGeom>
          <a:noFill/>
        </p:spPr>
        <p:txBody>
          <a:bodyPr wrap="square" lIns="109728" rIns="45720" tIns="36576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Batch and swimmer lists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Monthly attendance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Coach payment summary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500">
                <a:solidFill>
                  <a:srgbClr val="1E3146"/>
                </a:solidFill>
                <a:latin typeface="Aptos"/>
              </a:defRPr>
            </a:pPr>
            <a:r>
              <a:t>•  Operational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5897880"/>
            <a:ext cx="8979408" cy="411480"/>
          </a:xfrm>
          <a:prstGeom prst="round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5998464"/>
            <a:ext cx="8705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072D5C"/>
                </a:solidFill>
                <a:latin typeface="Aptos"/>
              </a:rPr>
              <a:t>Less writing · Fewer errors · Shorter queues · Clear responsibility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A better experience for swimmers and parents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From payment to active pass without repeated visits to the 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c__Users_sneha_AppData_Roaming_Cursor_User_workspaceStorage_26803b28d5ecc080f6c90797d58fa982_images_image-1f6a37ce-2a5b-4f61-aa89-a736857bfcb8.png"/>
          <p:cNvPicPr>
            <a:picLocks noChangeAspect="1"/>
          </p:cNvPicPr>
          <p:nvPr/>
        </p:nvPicPr>
        <p:blipFill>
          <a:blip r:embed="rId2"/>
          <a:srcRect l="8730" r="8730"/>
          <a:stretch>
            <a:fillRect/>
          </a:stretch>
        </p:blipFill>
        <p:spPr>
          <a:xfrm>
            <a:off x="5394960" y="1325880"/>
            <a:ext cx="6172200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1325880"/>
            <a:ext cx="4251960" cy="3154680"/>
          </a:xfrm>
          <a:prstGeom prst="round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72D5C"/>
                </a:solidFill>
                <a:latin typeface="Aptos"/>
              </a:rPr>
              <a:t>Swimmer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703320" cy="1874519"/>
          </a:xfrm>
          <a:prstGeom prst="rect">
            <a:avLst/>
          </a:prstGeom>
          <a:noFill/>
        </p:spPr>
        <p:txBody>
          <a:bodyPr wrap="square" lIns="109728" rIns="45720" tIns="36576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Fill the registration form on a phone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Pay by cash or UPI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Receive pass and invoice on WhatsApp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Show the QR pass at the gate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Receive reminders before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55371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F84"/>
                </a:solidFill>
                <a:latin typeface="Aptos"/>
              </a:rPr>
              <a:t>Actual SwimIT Active Swimmer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34290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5102352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B70D6"/>
                </a:solidFill>
                <a:latin typeface="Aptos"/>
              </a:rPr>
              <a:t>No paper to carry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513832"/>
            <a:ext cx="3099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F84"/>
                </a:solidFill>
                <a:latin typeface="Aptos"/>
              </a:rPr>
              <a:t>Digital pass stays on the swimmer’s phone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983480"/>
            <a:ext cx="34290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5102352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2975B"/>
                </a:solidFill>
                <a:latin typeface="Aptos"/>
              </a:rPr>
              <a:t>Clear validity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513832"/>
            <a:ext cx="3099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F84"/>
                </a:solidFill>
                <a:latin typeface="Aptos"/>
              </a:rPr>
              <a:t>Expiry date visible to swimmer and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4983480"/>
            <a:ext cx="34290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5102352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28027"/>
                </a:solidFill>
                <a:latin typeface="Aptos"/>
              </a:rPr>
              <a:t>Easy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5513832"/>
            <a:ext cx="3099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F84"/>
                </a:solidFill>
                <a:latin typeface="Aptos"/>
              </a:rPr>
              <a:t>Pass and invoice can be resent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Everything needed to run the pool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Modules are organised around setup, daily operations, information and finance.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2432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24328" cy="658368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18488"/>
            <a:ext cx="2404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984248" cy="2697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1E3146"/>
                </a:solidFill>
                <a:latin typeface="Aptos"/>
              </a:rPr>
              <a:t>Core Info
Batches &amp; timings
Pass types
Holidays
User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62432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1417320"/>
            <a:ext cx="2624328" cy="658368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618488"/>
            <a:ext cx="2404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DAILY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423160"/>
            <a:ext cx="1984248" cy="2697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1E3146"/>
                </a:solidFill>
                <a:latin typeface="Aptos"/>
              </a:rPr>
              <a:t>Registration
Pass Payment
Pass Scanner
WhatsApp
Water 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417320"/>
            <a:ext cx="262432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1417320"/>
            <a:ext cx="2624328" cy="658368"/>
          </a:xfrm>
          <a:prstGeom prst="round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618488"/>
            <a:ext cx="2404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5" y="2423160"/>
            <a:ext cx="1984248" cy="2697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1E3146"/>
                </a:solidFill>
                <a:latin typeface="Aptos"/>
              </a:rPr>
              <a:t>Dashboard
Swimmer’s List
Attendance Sheet
Staff List
Payment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417320"/>
            <a:ext cx="262432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624328" cy="658368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618488"/>
            <a:ext cx="2404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2423160"/>
            <a:ext cx="1984248" cy="2697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1E3146"/>
                </a:solidFill>
                <a:latin typeface="Aptos"/>
              </a:rPr>
              <a:t>Pool Expenses
Coach Payment
Invoices
Balance Sheet
Downloads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Money visibility without manual totals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Every pass payment becomes a credit; expenses and payouts become debits.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c__Users_sneha_AppData_Roaming_Cursor_User_workspaceStorage_26803b28d5ecc080f6c90797d58fa982_images_image-a3a7b4aa-b06a-476d-ae6a-585eb4981959.png"/>
          <p:cNvPicPr>
            <a:picLocks noChangeAspect="1"/>
          </p:cNvPicPr>
          <p:nvPr/>
        </p:nvPicPr>
        <p:blipFill>
          <a:blip r:embed="rId2"/>
          <a:srcRect l="10603" r="10603"/>
          <a:stretch>
            <a:fillRect/>
          </a:stretch>
        </p:blipFill>
        <p:spPr>
          <a:xfrm>
            <a:off x="594360" y="1261872"/>
            <a:ext cx="763524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0360" y="5404104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F84"/>
                </a:solidFill>
                <a:latin typeface="Aptos"/>
              </a:rPr>
              <a:t>Actual SwimIT Balance 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61872"/>
            <a:ext cx="3017520" cy="406908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572768"/>
            <a:ext cx="2377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2D5C"/>
                </a:solidFill>
                <a:latin typeface="Aptos"/>
              </a:rPr>
              <a:t>Owner can answer instantly: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331720"/>
            <a:ext cx="2423160" cy="2468880"/>
          </a:xfrm>
          <a:prstGeom prst="rect">
            <a:avLst/>
          </a:prstGeom>
          <a:noFill/>
        </p:spPr>
        <p:txBody>
          <a:bodyPr wrap="square" lIns="109728" rIns="45720" tIns="36576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How much was collected?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What was spent?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Which swimmer paid?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Cash or online?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450">
                <a:solidFill>
                  <a:srgbClr val="1E3146"/>
                </a:solidFill>
                <a:latin typeface="Aptos"/>
              </a:defRPr>
            </a:pPr>
            <a:r>
              <a:t>•  What is the closing balance?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4800600"/>
            <a:ext cx="2468880" cy="320040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4864608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Download when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Control, trust and continuity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Digital records improve both day-to-day discipline and long-term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17904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0876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Desk, gate, coach and manager see only the pages assigned to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35331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1517904"/>
            <a:ext cx="438912" cy="43891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1790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50876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Activity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5740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Important changes can be traced to a user instead of relying on memory.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35331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5" y="1517904"/>
            <a:ext cx="438912" cy="438912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151790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150876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Pool data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05740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Each pool account has separate swimmers, payments and settings.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0215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66744"/>
            <a:ext cx="438912" cy="438912"/>
          </a:xfrm>
          <a:prstGeom prst="round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667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65760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Consistent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Pass, invoice, payment and attendance use the same swimmer record.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350215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44568" y="3666744"/>
            <a:ext cx="438912" cy="43891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6667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365760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Cloud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20624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Authorised staff can work through a browser without one physical register.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3502152"/>
            <a:ext cx="349300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5" y="3666744"/>
            <a:ext cx="438912" cy="43891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36667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5" y="3657600"/>
            <a:ext cx="2633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72D5C"/>
                </a:solidFill>
                <a:latin typeface="Aptos"/>
              </a:rPr>
              <a:t>Downloadable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4206240"/>
            <a:ext cx="3163824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Lists and records can be exported for follow-up or offline review.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A practical 30-day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Move gradually — old paper can remain an archive while new activity starts digitally.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5024" y="1280160"/>
            <a:ext cx="1042415" cy="530352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1426464"/>
            <a:ext cx="1042415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2057400"/>
            <a:ext cx="80467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1B70D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07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Set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Pool details, batches, pass types and staff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D3E0E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1572768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1280160"/>
            <a:ext cx="1042415" cy="530352"/>
          </a:xfrm>
          <a:prstGeom prst="round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1426464"/>
            <a:ext cx="1042415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057400"/>
            <a:ext cx="80467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00AEE0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907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Start 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352044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Use SwimIT for new swimmers and renewals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2560320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D3E0E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1572768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59168" y="1280160"/>
            <a:ext cx="1042415" cy="530352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1426464"/>
            <a:ext cx="1042415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057400"/>
            <a:ext cx="80467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12975B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907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Scan at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5" y="352044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Use QR pass and attendance for daily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560320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D3E0EC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8" y="1572768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1280160"/>
            <a:ext cx="1042415" cy="530352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426464"/>
            <a:ext cx="1042415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2057400"/>
            <a:ext cx="80467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F28027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2907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Review money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352044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Enter expenses and review the first balance sheet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0432" y="5349240"/>
            <a:ext cx="9848088" cy="566928"/>
          </a:xfrm>
          <a:prstGeom prst="roundRect">
            <a:avLst/>
          </a:prstGeom>
          <a:solidFill>
            <a:srgbClr val="FFF6E9"/>
          </a:solidFill>
          <a:ln>
            <a:solidFill>
              <a:srgbClr val="FFF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504688"/>
            <a:ext cx="9445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072D5C"/>
                </a:solidFill>
                <a:latin typeface="Aptos"/>
              </a:rPr>
              <a:t>No need to type ten years of old registers. Begin with today’s new joins and renewals.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2D5C"/>
                </a:solidFill>
                <a:latin typeface="Aptos"/>
              </a:rPr>
              <a:t>The 5-minute 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51560" cy="45720"/>
          </a:xfrm>
          <a:prstGeom prst="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84"/>
                </a:solidFill>
                <a:latin typeface="Aptos"/>
              </a:rPr>
              <a:t>Show the complete value chain instead of explaining every menu.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B6F84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08760"/>
            <a:ext cx="2011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19" y="1234440"/>
            <a:ext cx="694944" cy="694944"/>
          </a:xfrm>
          <a:prstGeom prst="roundRect">
            <a:avLst/>
          </a:prstGeom>
          <a:solidFill>
            <a:srgbClr val="1B70D6"/>
          </a:solidFill>
          <a:ln>
            <a:solidFill>
              <a:srgbClr val="1B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1389888"/>
            <a:ext cx="6949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26080"/>
            <a:ext cx="14996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Create a swimmer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7432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508760"/>
            <a:ext cx="2011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11296" y="1234440"/>
            <a:ext cx="694944" cy="694944"/>
          </a:xfrm>
          <a:prstGeom prst="round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389888"/>
            <a:ext cx="6949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267712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26080"/>
            <a:ext cx="14996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Take cash / UPI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1508760"/>
            <a:ext cx="2011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33872" y="1234440"/>
            <a:ext cx="694944" cy="694944"/>
          </a:xfrm>
          <a:prstGeom prst="roundRect">
            <a:avLst/>
          </a:prstGeom>
          <a:solidFill>
            <a:srgbClr val="12975B"/>
          </a:solidFill>
          <a:ln>
            <a:solidFill>
              <a:srgbClr val="12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389888"/>
            <a:ext cx="6949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267712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926080"/>
            <a:ext cx="14996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WhatsApp pass +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7432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508760"/>
            <a:ext cx="2011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6448" y="1234440"/>
            <a:ext cx="694944" cy="694944"/>
          </a:xfrm>
          <a:prstGeom prst="roundRect">
            <a:avLst/>
          </a:prstGeom>
          <a:solidFill>
            <a:srgbClr val="F28027"/>
          </a:solidFill>
          <a:ln>
            <a:solidFill>
              <a:srgbClr val="F28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1389888"/>
            <a:ext cx="6949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2267712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1" y="2926080"/>
            <a:ext cx="14996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Mark gate 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27432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AEE0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0656" y="1508760"/>
            <a:ext cx="2011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79024" y="1234440"/>
            <a:ext cx="694944" cy="694944"/>
          </a:xfrm>
          <a:prstGeom prst="roundRect">
            <a:avLst/>
          </a:prstGeom>
          <a:solidFill>
            <a:srgbClr val="072D5C"/>
          </a:solidFill>
          <a:ln>
            <a:solidFill>
              <a:srgbClr val="07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79024" y="1389888"/>
            <a:ext cx="6949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267712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72D5C"/>
                </a:solidFill>
                <a:latin typeface="Aptos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2926080"/>
            <a:ext cx="14996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5B6F84"/>
                </a:solidFill>
                <a:latin typeface="Aptos"/>
              </a:rPr>
              <a:t>See credit in Balance Sheet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5266944"/>
            <a:ext cx="8979408" cy="658368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47088" y="5449824"/>
            <a:ext cx="8485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72D5C"/>
                </a:solidFill>
                <a:latin typeface="Aptos"/>
              </a:rPr>
              <a:t>One swimmer. One payment. One scan. One financial record.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3E0EC"/>
          </a:solidFill>
          <a:ln>
            <a:solidFill>
              <a:srgbClr val="D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F84"/>
                </a:solidFill>
                <a:latin typeface="Aptos"/>
              </a:rPr>
              <a:t>SwimIT · Swimming Pool Management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6019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B6F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D5C"/>
          </a:solidFill>
          <a:ln>
            <a:solidFill>
              <a:srgbClr val="07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wimit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566928"/>
            <a:ext cx="3685032" cy="993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2039112"/>
            <a:ext cx="935431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Paper keeps you busy.
SwimIT keeps you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02152"/>
            <a:ext cx="9445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BCE1F7"/>
                </a:solidFill>
                <a:latin typeface="Aptos"/>
              </a:rPr>
              <a:t>Registration · Pass · Invoice · Gate · Attendance · Expenses · Balance 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4370832"/>
            <a:ext cx="4233672" cy="621792"/>
          </a:xfrm>
          <a:prstGeom prst="roundRect">
            <a:avLst/>
          </a:prstGeom>
          <a:solidFill>
            <a:srgbClr val="00AEE0"/>
          </a:solidFill>
          <a:ln>
            <a:solidFill>
              <a:srgbClr val="00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4535424"/>
            <a:ext cx="38679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Move your pool forward with SwimIT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998464"/>
            <a:ext cx="1947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